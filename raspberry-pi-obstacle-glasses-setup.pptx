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ae2f7b20ea42b1" /><Relationship Type="http://schemas.openxmlformats.org/officeDocument/2006/relationships/extended-properties" Target="/docProps/app.xml" Id="Rb2b66922bd1c4931" /><Relationship Type="http://schemas.openxmlformats.org/officeDocument/2006/relationships/officeDocument" Target="/ppt/presentation.xml" Id="R516bfd7f21634c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c3510c4c4749fd"/>
  </p:sldMasterIdLst>
  <p:notesMasterIdLst>
    <p:notesMasterId xmlns:r="http://schemas.openxmlformats.org/officeDocument/2006/relationships" r:id="R6a8f99ecf4d643fb"/>
  </p:notesMasterIdLst>
  <p:sldIdLst>
    <p:sldId xmlns:r="http://schemas.openxmlformats.org/officeDocument/2006/relationships" id="256" r:id="Rde3600b0a6dc46ea"/>
    <p:sldId xmlns:r="http://schemas.openxmlformats.org/officeDocument/2006/relationships" id="257" r:id="R531f6da8558640be"/>
    <p:sldId xmlns:r="http://schemas.openxmlformats.org/officeDocument/2006/relationships" id="258" r:id="R164b5979114340a0"/>
    <p:sldId xmlns:r="http://schemas.openxmlformats.org/officeDocument/2006/relationships" id="259" r:id="R6d3a66e8ff564fd6"/>
    <p:sldId xmlns:r="http://schemas.openxmlformats.org/officeDocument/2006/relationships" id="260" r:id="R552b3ec1bccb48ae"/>
    <p:sldId xmlns:r="http://schemas.openxmlformats.org/officeDocument/2006/relationships" id="261" r:id="R55ebf2705c464d81"/>
    <p:sldId xmlns:r="http://schemas.openxmlformats.org/officeDocument/2006/relationships" id="262" r:id="R11bf0b8fe9944f45"/>
    <p:sldId xmlns:r="http://schemas.openxmlformats.org/officeDocument/2006/relationships" id="263" r:id="Re63261fe1bd2428a"/>
    <p:sldId xmlns:r="http://schemas.openxmlformats.org/officeDocument/2006/relationships" id="264" r:id="R121b37f16e744fef"/>
    <p:sldId xmlns:r="http://schemas.openxmlformats.org/officeDocument/2006/relationships" id="265" r:id="R4cd0d07a388645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fcd41ced604561" /><Relationship Type="http://schemas.openxmlformats.org/officeDocument/2006/relationships/slideMaster" Target="/ppt/slideMasters/slideMaster1.xml" Id="Rdac3510c4c4749fd" /><Relationship Type="http://schemas.openxmlformats.org/officeDocument/2006/relationships/notesMaster" Target="/ppt/notesMasters/notesMaster1.xml" Id="R6a8f99ecf4d643fb" /><Relationship Type="http://schemas.openxmlformats.org/officeDocument/2006/relationships/presProps" Target="/ppt/presProps.xml" Id="R1b0dcc6737254a1e" /><Relationship Type="http://schemas.openxmlformats.org/officeDocument/2006/relationships/tableStyles" Target="/ppt/tableStyles.xml" Id="R31e82021df0e4ca7" /><Relationship Type="http://schemas.openxmlformats.org/officeDocument/2006/relationships/slide" Target="/ppt/slides/slide1.xml" Id="Rde3600b0a6dc46ea" /><Relationship Type="http://schemas.openxmlformats.org/officeDocument/2006/relationships/slide" Target="/ppt/slides/slide2.xml" Id="R531f6da8558640be" /><Relationship Type="http://schemas.openxmlformats.org/officeDocument/2006/relationships/slide" Target="/ppt/slides/slide3.xml" Id="R164b5979114340a0" /><Relationship Type="http://schemas.openxmlformats.org/officeDocument/2006/relationships/slide" Target="/ppt/slides/slide4.xml" Id="R6d3a66e8ff564fd6" /><Relationship Type="http://schemas.openxmlformats.org/officeDocument/2006/relationships/slide" Target="/ppt/slides/slide5.xml" Id="R552b3ec1bccb48ae" /><Relationship Type="http://schemas.openxmlformats.org/officeDocument/2006/relationships/slide" Target="/ppt/slides/slide6.xml" Id="R55ebf2705c464d81" /><Relationship Type="http://schemas.openxmlformats.org/officeDocument/2006/relationships/slide" Target="/ppt/slides/slide7.xml" Id="R11bf0b8fe9944f45" /><Relationship Type="http://schemas.openxmlformats.org/officeDocument/2006/relationships/slide" Target="/ppt/slides/slide8.xml" Id="Re63261fe1bd2428a" /><Relationship Type="http://schemas.openxmlformats.org/officeDocument/2006/relationships/slide" Target="/ppt/slides/slide9.xml" Id="R121b37f16e744fef" /><Relationship Type="http://schemas.openxmlformats.org/officeDocument/2006/relationships/slide" Target="/ppt/slides/slide10.xml" Id="R4cd0d07a388645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47ec2f4f7e45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5f57d9a7df4bdf" /><Relationship Type="http://schemas.openxmlformats.org/officeDocument/2006/relationships/notesMaster" Target="/ppt/notesMasters/notesMaster1.xml" Id="Rf5f7623e8acb42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55bc3fed144074" /><Relationship Type="http://schemas.openxmlformats.org/officeDocument/2006/relationships/notesMaster" Target="/ppt/notesMasters/notesMaster1.xml" Id="R42cf7b9fcb0746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60c387fe414bc3" /><Relationship Type="http://schemas.openxmlformats.org/officeDocument/2006/relationships/notesMaster" Target="/ppt/notesMasters/notesMaster1.xml" Id="R075c4d7ec2f348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ed717ffbec4150" /><Relationship Type="http://schemas.openxmlformats.org/officeDocument/2006/relationships/notesMaster" Target="/ppt/notesMasters/notesMaster1.xml" Id="R06412e37f1ee41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eee6b5e10646ed" /><Relationship Type="http://schemas.openxmlformats.org/officeDocument/2006/relationships/notesMaster" Target="/ppt/notesMasters/notesMaster1.xml" Id="R3dcb50a29ea947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88a9fba83048ab" /><Relationship Type="http://schemas.openxmlformats.org/officeDocument/2006/relationships/notesMaster" Target="/ppt/notesMasters/notesMaster1.xml" Id="R238d603c8f2e44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3e5ba3ba8f447e" /><Relationship Type="http://schemas.openxmlformats.org/officeDocument/2006/relationships/notesMaster" Target="/ppt/notesMasters/notesMaster1.xml" Id="Rcea7136ab2be47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c29cf64dc345ea" /><Relationship Type="http://schemas.openxmlformats.org/officeDocument/2006/relationships/notesMaster" Target="/ppt/notesMasters/notesMaster1.xml" Id="R308f2331a2e045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52ebf6c6204d74" /><Relationship Type="http://schemas.openxmlformats.org/officeDocument/2006/relationships/notesMaster" Target="/ppt/notesMasters/notesMaster1.xml" Id="R09044f014b0841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bac7c7ccd34314" /><Relationship Type="http://schemas.openxmlformats.org/officeDocument/2006/relationships/notesMaster" Target="/ppt/notesMasters/notesMaster1.xml" Id="R3acac7fc4f4947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Raspberry Pi GPIO uses 3.3 V logic. Verify the exact ultrasonic module voltage and output level before connecting ECHO.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Raspberry Pi documentation: https://www.raspberrypi.com/documentation/usage/gpio/python/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a58e8c7b2848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188626f17747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ff1d90d14945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b6051471e740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0b1acf924047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3592c4041443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8FE61E-25BF-4A3E-A7C2-9F569D95AC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6ED49C4-BC83-4C2A-AC0A-DD18127B39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9EE841A-2347-420E-9818-1909DEF1E0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421325-E6B9-46CD-A657-BF582F1412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5C4831-863C-4CD4-BBDE-352542A831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433F5E6-8DBF-4902-B1AB-620D104853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5C5DBE-BEA7-4F31-AD3A-1633267090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244F30B-00BC-4059-84CA-30850130C41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AF91F7-C9E5-4E72-89C5-2BEB03EB58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EFDBEB-BF82-40C7-9211-E752A37240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4e9036f0db4892" /><Relationship Type="http://schemas.openxmlformats.org/officeDocument/2006/relationships/slideLayout" Target="/ppt/slideLayouts/slideLayout1.xml" Id="R0a7c627997ee46c1" /><Relationship Type="http://schemas.openxmlformats.org/officeDocument/2006/relationships/slideLayout" Target="/ppt/slideLayouts/slideLayout2.xml" Id="Re449de3aaf2a480b" /><Relationship Type="http://schemas.openxmlformats.org/officeDocument/2006/relationships/slideLayout" Target="/ppt/slideLayouts/slideLayout3.xml" Id="R067e418770fd40b7" /><Relationship Type="http://schemas.openxmlformats.org/officeDocument/2006/relationships/slideLayout" Target="/ppt/slideLayouts/slideLayout4.xml" Id="R170857d4cec14536" /><Relationship Type="http://schemas.openxmlformats.org/officeDocument/2006/relationships/slideLayout" Target="/ppt/slideLayouts/slideLayout5.xml" Id="R020044c57436487d" /><Relationship Type="http://schemas.openxmlformats.org/officeDocument/2006/relationships/slideLayout" Target="/ppt/slideLayouts/slideLayout6.xml" Id="R12436db5dba740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7c627997ee46c1"/>
    <p:sldLayoutId xmlns:r="http://schemas.openxmlformats.org/officeDocument/2006/relationships" id="2147483650" r:id="Re449de3aaf2a480b"/>
    <p:sldLayoutId xmlns:r="http://schemas.openxmlformats.org/officeDocument/2006/relationships" id="2147483651" r:id="R067e418770fd40b7"/>
    <p:sldLayoutId xmlns:r="http://schemas.openxmlformats.org/officeDocument/2006/relationships" id="2147483652" r:id="R170857d4cec14536"/>
    <p:sldLayoutId xmlns:r="http://schemas.openxmlformats.org/officeDocument/2006/relationships" id="2147483653" r:id="R020044c57436487d"/>
    <p:sldLayoutId xmlns:r="http://schemas.openxmlformats.org/officeDocument/2006/relationships" id="2147483654" r:id="R12436db5dba740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2bb877afd843a6" /><Relationship Type="http://schemas.openxmlformats.org/officeDocument/2006/relationships/notesSlide" Target="/ppt/notesSlides/notesSlide1.xml" Id="Rc508782f122744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5e0cd50ab9407c" /><Relationship Type="http://schemas.openxmlformats.org/officeDocument/2006/relationships/notesSlide" Target="/ppt/notesSlides/notesSlide2.xml" Id="R446cd31e37784c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344f1b013c47ac" /><Relationship Type="http://schemas.openxmlformats.org/officeDocument/2006/relationships/notesSlide" Target="/ppt/notesSlides/notesSlide3.xml" Id="Rac16b962470f49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2d442a30e2440c" /><Relationship Type="http://schemas.openxmlformats.org/officeDocument/2006/relationships/notesSlide" Target="/ppt/notesSlides/notesSlide4.xml" Id="R7499993cd59241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c9cbe3ba0e4d17" /><Relationship Type="http://schemas.openxmlformats.org/officeDocument/2006/relationships/notesSlide" Target="/ppt/notesSlides/notesSlide5.xml" Id="R445e9e4a8dc94e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9ef6bb52814915" /><Relationship Type="http://schemas.openxmlformats.org/officeDocument/2006/relationships/notesSlide" Target="/ppt/notesSlides/notesSlide6.xml" Id="Rf694cdcbaef147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4ecf3209d44018" /><Relationship Type="http://schemas.openxmlformats.org/officeDocument/2006/relationships/notesSlide" Target="/ppt/notesSlides/notesSlide7.xml" Id="R1f1fafe1275f43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247e9764084fda" /><Relationship Type="http://schemas.openxmlformats.org/officeDocument/2006/relationships/notesSlide" Target="/ppt/notesSlides/notesSlide8.xml" Id="Rb4b0db8ac63645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c7ef345c014688" /><Relationship Type="http://schemas.openxmlformats.org/officeDocument/2006/relationships/notesSlide" Target="/ppt/notesSlides/notesSlide9.xml" Id="Rb87c1e46f46540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36a982baa84151" /><Relationship Type="http://schemas.openxmlformats.org/officeDocument/2006/relationships/notesSlide" Target="/ppt/notesSlides/notesSlide10.xml" Id="R490dd09109f44c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78EDB3-F19F-4C25-86C4-B5485878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RASPBERRY PI  /  BUILD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FE974-5EFD-49E3-A719-7C862D6E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0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40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40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40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40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40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40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40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40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40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Smart obstacle</a:t>
            </a:r>
          </a:p>
          <a:p xmlns:a="http://schemas.openxmlformats.org/drawingml/2006/main">
            <a:pPr algn="l">
              <a:defRPr sz="40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alert glasses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C8C2C-AA58-43D7-B96C-08EED78D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B4C0CF"/>
                </a:solidFill>
                <a:latin typeface="Aptos"/>
                <a:ea typeface="Aptos"/>
                <a:cs typeface="Aptos"/>
              </a:rPr>
              <a:t>Setup, wiring, software, and automatic startup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93DB3-2007-4EDD-99F8-0277A77F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695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Distance alerts  •  Button-triggered camera scan  •  Spoken description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69233-F9D8-4FC1-9BA1-5BBA5562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2571750" cy="2952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93450"/>
          </a:solidFill>
          <a:ln xmlns:a="http://schemas.openxmlformats.org/drawingml/2006/main" w="19050">
            <a:solidFill>
              <a:srgbClr val="31547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CDBFB-0CAD-4BEE-A9DC-5B079EB8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049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RASPBERRY 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953D5-E675-49FB-BB29-DE631E86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33625"/>
            <a:ext cx="1381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22A26-30DD-4BB9-98D1-9378F15B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4795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ctr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ctr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ctr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ctr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ctr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ctr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ctr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ctr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ctr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CPU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01345-0244-4EA5-A8BE-A4EE9E5F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B5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ECC20-5532-435F-B46A-5E050427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623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B5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6C120-9FA9-4C0A-ADCC-777967B5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955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B5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AAB5F-1639-4593-8295-59E74CA1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623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B5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F77FB-3938-4028-92A7-90C70C5F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B5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4CB6D-01CA-4CC8-97D3-AC0DC42B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623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B5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DB314-6BB8-4614-8871-AC7E8C77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0955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B5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DD351-8D40-41E7-8D7F-B6AE2050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7623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B5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0D18F4-6846-46CD-B3AD-3990DD90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B5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592724-160E-4E4D-9558-015D17F5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623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B5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0155C2-9DCA-4059-A557-1AAC4E18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0955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B5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1C7A2C-19E2-40B7-814A-75E29CA9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7623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B5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A4139A-ED53-4ABF-881F-99CA4F66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86000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FCA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EB054C-7D0A-46DF-ADEC-AE993875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0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6BB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EA74ED-8AD9-4371-8927-C3098D02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67000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9D6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26D5C0-E101-4969-98CC-251C6B2F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68592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CA66"/>
                </a:solidFill>
                <a:latin typeface="Aptos"/>
                <a:ea typeface="Aptos"/>
                <a:cs typeface="Aptos"/>
              </a:rPr>
              <a:t>POWER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079C39-0557-45D1-8B28-A614C715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190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B5FF"/>
                </a:solidFill>
                <a:latin typeface="Aptos"/>
                <a:ea typeface="Aptos"/>
                <a:cs typeface="Aptos"/>
              </a:rPr>
              <a:t>SENSOR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677EE1-663A-40AC-89A0-C4947C5F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765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MOTOR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BAF1A3-8774-4E47-BD3D-F8B47D5A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4C0CF"/>
                </a:solidFill>
                <a:latin typeface="Aptos"/>
                <a:ea typeface="Aptos"/>
                <a:cs typeface="Aptos"/>
              </a:rPr>
              <a:t>A visual walkthrough for a first boot-to-running setup.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E95B15-EFFE-4C71-BC43-C350F837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C0C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37980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0484B2-F696-4CAC-8543-779F8DEE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SMART OBSTACLE GLASSES  / 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54664-7BA3-42C8-95B9-06A4001D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System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65C54-CCDA-46BD-8D39-B60B41E9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C5"/>
          </a:solidFill>
          <a:ln xmlns:a="http://schemas.openxmlformats.org/drawingml/2006/main" w="0">
            <a:solidFill>
              <a:srgbClr val="39D6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53781-809B-4632-875D-46C08AEB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C0CF"/>
                </a:solidFill>
                <a:latin typeface="Aptos"/>
                <a:ea typeface="Aptos"/>
                <a:cs typeface="Aptos"/>
              </a:rPr>
              <a:t>RASPBERRY PI BUILD GUIDE  •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75DE2-6866-4AD4-9827-4330F417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BB5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51944-2DD5-46CB-B06C-A65DC6D8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Measure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E5DEF-6114-45DC-81AD-F4AE4905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2333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4C0CF"/>
                </a:solidFill>
                <a:latin typeface="Aptos"/>
                <a:ea typeface="Aptos"/>
                <a:cs typeface="Aptos"/>
              </a:rPr>
              <a:t>Ultrasonic sensor checks the space ahead repeatedly.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6E42D-AC83-451C-82A3-E72B5D35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52625"/>
            <a:ext cx="3333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9D6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A7C4F-0BE4-4E14-86EE-F5B058AC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D162E-E740-4C6B-8F3D-A25FDF0F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Alert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E7B527-9B17-4F02-AE2E-EBD39A75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05150"/>
            <a:ext cx="2333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4C0CF"/>
                </a:solidFill>
                <a:latin typeface="Aptos"/>
                <a:ea typeface="Aptos"/>
                <a:cs typeface="Aptos"/>
              </a:rPr>
              <a:t>Pulses get closer together as an obstacle gets nearer.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B91B1-E52A-46F8-A21C-C80F2671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52625"/>
            <a:ext cx="3333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9D6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71E6F-ED47-4CA0-8EA2-BEC6B163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CA6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76FE1F-87FD-4A5D-ABEC-2097EB51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Describe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9F79A4-966B-4DFA-9649-0BFCD424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05150"/>
            <a:ext cx="2333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4C0CF"/>
                </a:solidFill>
                <a:latin typeface="Aptos"/>
                <a:ea typeface="Aptos"/>
                <a:cs typeface="Aptos"/>
              </a:rPr>
              <a:t>Press the button for a photo and short spoken description.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ACFBC-6C5F-4803-943C-A3C2D110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52625"/>
            <a:ext cx="3333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9D6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CD29AA-C9E4-4A0E-B6E5-925DBB72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097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8AE0A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BE3CAD-C95F-421E-B5C2-1AAE07B5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717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Start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53908A-3506-428A-8487-7F075A86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05150"/>
            <a:ext cx="2333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4C0CF"/>
                </a:solidFill>
                <a:latin typeface="Aptos"/>
                <a:ea typeface="Aptos"/>
                <a:cs typeface="Aptos"/>
              </a:rPr>
              <a:t>A system service launches the program after boot.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6F57D3-44D1-4513-9ED1-BBEBFABB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91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The distance monitor and button-controlled camera scan operate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1736685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E45DA3-ABC7-4799-8B62-38D51E19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SMART OBSTACLE GLASSES  / 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24231-88F8-486E-B19E-652D6858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GPIO pin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A8A86-51BE-4E0F-92D0-9E5511C7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C5"/>
          </a:solidFill>
          <a:ln xmlns:a="http://schemas.openxmlformats.org/drawingml/2006/main" w="0">
            <a:solidFill>
              <a:srgbClr val="39D6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CDB54-7125-4DB8-9C6D-C46A4224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C0CF"/>
                </a:solidFill>
                <a:latin typeface="Aptos"/>
                <a:ea typeface="Aptos"/>
                <a:cs typeface="Aptos"/>
              </a:rPr>
              <a:t>RASPBERRY PI BUILD GUIDE  •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37003-48C5-4D75-9911-9939774B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954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4C0CF"/>
                </a:solidFill>
                <a:latin typeface="Aptos"/>
                <a:ea typeface="Aptos"/>
                <a:cs typeface="Aptos"/>
              </a:rPr>
              <a:t>The script uses BCM pin numbers. Match signal names, not physical header positions.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C150C-BECA-4014-A245-DD0343D2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4905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B2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C2DE8-238D-4F55-8CC9-68340F74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GPIO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8BD84-72F3-4B3A-82BF-9BC57354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240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A"/>
                </a:solidFill>
                <a:latin typeface="Aptos"/>
                <a:ea typeface="Aptos"/>
                <a:cs typeface="Aptos"/>
              </a:rPr>
              <a:t>Button 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5203A-1B71-40E2-876F-4FF3BD6E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71775"/>
            <a:ext cx="4905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99EFA-8864-4FAD-AA93-11D64CF1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GPIO 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06283-94CF-4A99-BB01-D196573B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479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A"/>
                </a:solidFill>
                <a:latin typeface="Aptos"/>
                <a:ea typeface="Aptos"/>
                <a:cs typeface="Aptos"/>
              </a:rPr>
              <a:t>Vibration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1DEAC-07DB-4174-8DF5-06BC4C49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95675"/>
            <a:ext cx="4905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B2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9AA60-8B0E-4A78-9585-C9F34B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GPIO 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51293-815C-4AC7-B08D-888271F9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718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A"/>
                </a:solidFill>
                <a:latin typeface="Aptos"/>
                <a:ea typeface="Aptos"/>
                <a:cs typeface="Aptos"/>
              </a:rPr>
              <a:t>Ultrasonic TRIG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A4AFE-757B-47D7-92FE-5DA2B2E1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9575"/>
            <a:ext cx="4905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2DA663-D55E-4AF7-92CE-06C1F62A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GPIO 22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3BABC9-D7FE-43B4-94F9-61EB255B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957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A"/>
                </a:solidFill>
                <a:latin typeface="Aptos"/>
                <a:ea typeface="Aptos"/>
                <a:cs typeface="Aptos"/>
              </a:rPr>
              <a:t>Ultrasonic ECHO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7BD055-6FA2-4C3D-8221-EB49929B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43475"/>
            <a:ext cx="4905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B2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75DF98-E7D7-4614-83B0-3430DFB2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3V3 + GND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4FFB01-42FD-41E5-B010-A53DFAA7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196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A"/>
                </a:solidFill>
                <a:latin typeface="Aptos"/>
                <a:ea typeface="Aptos"/>
                <a:cs typeface="Aptos"/>
              </a:rPr>
              <a:t>Sensor power / shared ground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8EE9D9-2414-4179-B862-0A88B0BC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81200"/>
            <a:ext cx="4619625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183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758918-76DD-4AED-88E9-7B26F533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414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ctr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ctr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ctr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ctr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ctr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ctr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ctr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ctr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ctr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Pi header (diagram only)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D29DA5-249E-4628-B9F1-65B7D90D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337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A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13CA62-8109-4538-B271-FDABB1A2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337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A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EF3935-D23F-4EC6-B196-499A9DF5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337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AAAA2F-E6A1-42BB-86B0-B77AC92B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337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FCA177-5B2F-4B7B-9CB8-A27B1F3F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337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A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442A2F-C252-445D-A6FD-61CA7CB7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48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A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192765-79BD-4E52-8E87-34B29EB8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48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A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6C0822-014A-47B3-8CF3-ED752A56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48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A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AC4347-4C28-4477-94CB-EB2CABB4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48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A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909349-A198-425E-9112-BC9056E5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48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A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1C6579-B07A-4D31-8687-B26F75B9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29125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GPIO 26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D11BD9-619D-41B6-BCE8-D476C1ED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2912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BB5FF"/>
                </a:solidFill>
                <a:latin typeface="Aptos"/>
                <a:ea typeface="Aptos"/>
                <a:cs typeface="Aptos"/>
              </a:rPr>
              <a:t>GPIO 27 / 22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4CB036-D1F8-4380-BFF5-AD67B297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85775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4C0CF"/>
                </a:solidFill>
                <a:latin typeface="Aptos"/>
                <a:ea typeface="Aptos"/>
                <a:cs typeface="Aptos"/>
              </a:rPr>
              <a:t>Confirm each BCM pin against your Pi model’s pinout before connecting wires.</a:t>
            </a:r>
          </a:p>
        </p:txBody>
      </p:sp>
    </p:spTree>
    <p:extLst>
      <p:ext uri="{BB962C8B-B14F-4D97-AF65-F5344CB8AC3E}">
        <p14:creationId xmlns:p14="http://schemas.microsoft.com/office/powerpoint/2010/main" val="543395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8FCD20-8CC8-459F-B11D-8FC2A8EB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SMART OBSTACLE GLASSES  / 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D3124-EBA0-4CA7-8463-9B766D61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Ultrasonic sensor wiring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3C8D6-D563-4E1F-9D81-99794DC7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C5"/>
          </a:solidFill>
          <a:ln xmlns:a="http://schemas.openxmlformats.org/drawingml/2006/main" w="0">
            <a:solidFill>
              <a:srgbClr val="39D6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3580A-E896-4A85-88D4-6D411661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C0CF"/>
                </a:solidFill>
                <a:latin typeface="Aptos"/>
                <a:ea typeface="Aptos"/>
                <a:cs typeface="Aptos"/>
              </a:rPr>
              <a:t>RASPBERRY PI BUILD GUIDE  •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677A3-47BD-4219-8946-115810CD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HC-SR04-style sensor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874E1-7DDA-4698-9AB2-5FCE41AE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4857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C549D-6B1B-4EC9-BD38-634B1A43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CA66"/>
                </a:solidFill>
                <a:latin typeface="Aptos"/>
                <a:ea typeface="Aptos"/>
                <a:cs typeface="Aptos"/>
              </a:rPr>
              <a:t>VCC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E0AF6-56D4-487D-A28A-5C2AD47C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152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A"/>
                </a:solidFill>
                <a:latin typeface="Aptos"/>
                <a:ea typeface="Aptos"/>
                <a:cs typeface="Aptos"/>
              </a:rPr>
              <a:t>3V3 (your current wiring)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1A40F-26FA-46BD-AC72-F0BE75D2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4857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CF161-6E45-452F-A999-A8009154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C0CF"/>
                </a:solidFill>
                <a:latin typeface="Aptos"/>
                <a:ea typeface="Aptos"/>
                <a:cs typeface="Aptos"/>
              </a:rPr>
              <a:t>GND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970B2-5E3E-4F04-A43E-8CE70D20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38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A"/>
                </a:solidFill>
                <a:latin typeface="Aptos"/>
                <a:ea typeface="Aptos"/>
                <a:cs typeface="Aptos"/>
              </a:rPr>
              <a:t>Pi ground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761A8-FACD-4127-A580-F2C2D00E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48050"/>
            <a:ext cx="4857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A60233-DD62-4116-A188-4372F3E5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BB5FF"/>
                </a:solidFill>
                <a:latin typeface="Aptos"/>
                <a:ea typeface="Aptos"/>
                <a:cs typeface="Aptos"/>
              </a:rPr>
              <a:t>TRIG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77A7A6-7D7B-4EFC-809C-CC6F9CF1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4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A"/>
                </a:solidFill>
                <a:latin typeface="Aptos"/>
                <a:ea typeface="Aptos"/>
                <a:cs typeface="Aptos"/>
              </a:rPr>
              <a:t>GPIO 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DEDA6-B213-4017-91AF-6A10D71E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4857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8BAC89-0BCF-458B-8A7F-176A335F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ECHO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B0A9F9-CD7F-48B8-BD8B-874C5995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100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A"/>
                </a:solidFill>
                <a:latin typeface="Aptos"/>
                <a:ea typeface="Aptos"/>
                <a:cs typeface="Aptos"/>
              </a:rPr>
              <a:t>GPIO 22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62F521-8737-453F-BB28-5EEF0FD2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223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4EC52B-E8F4-47AC-9BA4-90A7111A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765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ctr">
              <a:defRPr sz="22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ctr">
              <a:defRPr sz="22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ctr">
              <a:defRPr sz="22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ctr">
              <a:defRPr sz="22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ctr">
              <a:defRPr sz="22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ctr">
              <a:defRPr sz="22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ctr">
              <a:defRPr sz="22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ctr">
              <a:defRPr sz="22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ctr">
              <a:defRPr sz="22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HC-SR04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C2C8EB-1398-4081-8585-1CF8078B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47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185DF0-68AB-4086-9789-D6279831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CA66"/>
                </a:solidFill>
                <a:latin typeface="Aptos"/>
                <a:ea typeface="Aptos"/>
                <a:cs typeface="Aptos"/>
              </a:rPr>
              <a:t>VCC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5DB41F-C688-401E-8AB6-BBDD6FFD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24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53EAB7-0CC0-4A10-B972-DFF3F2CF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BB5FF"/>
                </a:solidFill>
                <a:latin typeface="Aptos"/>
                <a:ea typeface="Aptos"/>
                <a:cs typeface="Aptos"/>
              </a:rPr>
              <a:t>TRIG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0E49BC-3FD9-4783-896D-DCF4B3D9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0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AD3738-17EE-4DDE-8B78-35BF1427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ECHO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D6F816-25B9-41FA-840D-BD922D2A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C0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28422B-5EEA-4F4B-A077-9E3DAAC6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C0CF"/>
                </a:solidFill>
                <a:latin typeface="Aptos"/>
                <a:ea typeface="Aptos"/>
                <a:cs typeface="Aptos"/>
              </a:rPr>
              <a:t>GND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CF8555-C0AD-46DC-893F-2512A2C8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910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CA66"/>
                </a:solidFill>
                <a:latin typeface="Aptos"/>
                <a:ea typeface="Aptos"/>
                <a:cs typeface="Aptos"/>
              </a:rPr>
              <a:t>Voltage check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015E93-3464-4F40-85C4-F0891764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81575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A"/>
                </a:solidFill>
                <a:latin typeface="Aptos"/>
                <a:ea typeface="Aptos"/>
                <a:cs typeface="Aptos"/>
              </a:rPr>
              <a:t>Sensor versions differ. Check its label or datasheet: some require 5 V. If ECHO can reach 5 V, use a divider or level shifter before Pi GPIO 22.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DE6122-E9C2-4DA4-AB23-FCAC062B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4C0CF"/>
                </a:solidFill>
                <a:latin typeface="Aptos"/>
                <a:ea typeface="Aptos"/>
                <a:cs typeface="Aptos"/>
              </a:rPr>
              <a:t>If powered from Pi 3V3 and readings work, keep the tested setup for now; confirm the exact module rating.</a:t>
            </a:r>
          </a:p>
        </p:txBody>
      </p:sp>
    </p:spTree>
    <p:extLst>
      <p:ext uri="{BB962C8B-B14F-4D97-AF65-F5344CB8AC3E}">
        <p14:creationId xmlns:p14="http://schemas.microsoft.com/office/powerpoint/2010/main" val="11633951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5AB36-D6D7-4FE0-B7BF-735F2DFE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SMART OBSTACLE GLASSES  / 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818E4-D427-44B5-9BA5-56F27815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Vibration motor connection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96EED-36C1-4B7D-B36D-D33C7554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C5"/>
          </a:solidFill>
          <a:ln xmlns:a="http://schemas.openxmlformats.org/drawingml/2006/main" w="0">
            <a:solidFill>
              <a:srgbClr val="39D6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C4136-9E32-4421-A2E9-3CE4BC3B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C0CF"/>
                </a:solidFill>
                <a:latin typeface="Aptos"/>
                <a:ea typeface="Aptos"/>
                <a:cs typeface="Aptos"/>
              </a:rPr>
              <a:t>RASPBERRY PI BUILD GUIDE  •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52004-C089-4547-BB96-081A8E67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A"/>
                </a:solidFill>
                <a:latin typeface="Aptos"/>
                <a:ea typeface="Aptos"/>
                <a:cs typeface="Aptos"/>
              </a:rPr>
              <a:t>The prepared script pulses GPIO 26. Your tested direct connection is enabled.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8A58E-B84B-4CC7-B15C-0CF29627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B2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19FC4-EEA1-4483-B4A9-0C9ED93F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14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ctr">
              <a:defRPr sz="187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ctr">
              <a:defRPr sz="187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ctr">
              <a:defRPr sz="187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ctr">
              <a:defRPr sz="187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ctr">
              <a:defRPr sz="187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ctr">
              <a:defRPr sz="187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ctr">
              <a:defRPr sz="187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ctr">
              <a:defRPr sz="187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ctr">
              <a:defRPr sz="187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Pi GPIO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D304D-A84E-4AC1-9475-219246BE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718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4C0CF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B53B4-9E82-4372-B187-AA302144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B2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0D401-5E2D-4501-AE8C-AA66BECB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67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ctr">
              <a:defRPr sz="18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ctr">
              <a:defRPr sz="18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ctr">
              <a:defRPr sz="18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ctr">
              <a:defRPr sz="18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ctr">
              <a:defRPr sz="18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ctr">
              <a:defRPr sz="18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ctr">
              <a:defRPr sz="18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ctr">
              <a:defRPr sz="18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ctr">
              <a:defRPr sz="18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Motor driver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D752F4-8B6D-42D7-8CF5-222510AA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43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4C0CF"/>
                </a:solidFill>
                <a:latin typeface="Aptos"/>
                <a:ea typeface="Aptos"/>
                <a:cs typeface="Aptos"/>
              </a:rPr>
              <a:t>transistor / MOSFET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1C7DE-D731-466A-AD16-095582B0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28875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B2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224F78-68EC-4803-87DD-2B6481A1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14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ctr">
              <a:defRPr sz="18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ctr">
              <a:defRPr sz="18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ctr">
              <a:defRPr sz="18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ctr">
              <a:defRPr sz="18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ctr">
              <a:defRPr sz="18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ctr">
              <a:defRPr sz="18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ctr">
              <a:defRPr sz="18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ctr">
              <a:defRPr sz="18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ctr">
              <a:defRPr sz="18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Vibration motor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D90F2-9772-42B0-840A-783E3D82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718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4C0CF"/>
                </a:solidFill>
                <a:latin typeface="Aptos"/>
                <a:ea typeface="Aptos"/>
                <a:cs typeface="Aptos"/>
              </a:rPr>
              <a:t>motor supply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1039BB-70B1-4940-95DD-5A4F51F4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142875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39D6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E2EC8E-C747-4957-BBEA-F66D391D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142875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39D6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6EEB36-14CF-493F-B018-ACD8C669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CA66"/>
                </a:solidFill>
                <a:latin typeface="Aptos"/>
                <a:ea typeface="Aptos"/>
                <a:cs typeface="Aptos"/>
              </a:rPr>
              <a:t>Recommended upgrade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78BE64-F2E7-45F3-B341-DD96CDF7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A"/>
                </a:solidFill>
                <a:latin typeface="Aptos"/>
                <a:ea typeface="Aptos"/>
                <a:cs typeface="Aptos"/>
              </a:rPr>
              <a:t>A motor driver takes the motor current while GPIO 26 provides only the control signal. Use a suitable driver circuit and shared ground.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0A6D38-D3E6-48D0-AAC2-99F56495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CA66"/>
                </a:solidFill>
                <a:latin typeface="Aptos"/>
                <a:ea typeface="Aptos"/>
                <a:cs typeface="Aptos"/>
              </a:rPr>
              <a:t>Direct GPIO-to-motor wiring may damage the Pi over time, even if it has worked in your test.</a:t>
            </a:r>
          </a:p>
        </p:txBody>
      </p:sp>
    </p:spTree>
    <p:extLst>
      <p:ext uri="{BB962C8B-B14F-4D97-AF65-F5344CB8AC3E}">
        <p14:creationId xmlns:p14="http://schemas.microsoft.com/office/powerpoint/2010/main" val="18458125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41E316-B937-4D80-BA1D-482CB319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SMART OBSTACLE GLASSES  / 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514B6-914A-48BF-871A-917D3331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Install files and dependencies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7C8F2-256C-4534-9D35-0BBD46C4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C5"/>
          </a:solidFill>
          <a:ln xmlns:a="http://schemas.openxmlformats.org/drawingml/2006/main" w="0">
            <a:solidFill>
              <a:srgbClr val="39D6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7DF06-9ADE-48DF-A75A-47ECA8E8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C0CF"/>
                </a:solidFill>
                <a:latin typeface="Aptos"/>
                <a:ea typeface="Aptos"/>
                <a:cs typeface="Aptos"/>
              </a:rPr>
              <a:t>RASPBERRY PI BUILD GUIDE  •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5F3EB-B830-4F82-A3FA-375B5027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66C93-7B06-4A1D-B21F-E560A509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09725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Create folder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E005D-C797-4E1B-A45F-ED7DFC2C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71625"/>
            <a:ext cx="666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E666D-7F46-4B08-93EC-7F05E30F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383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4C0CF"/>
                </a:solidFill>
                <a:latin typeface="Aptos"/>
                <a:ea typeface="Aptos"/>
                <a:cs typeface="Aptos"/>
              </a:rPr>
              <a:t>mkdir -p ~/obstacle-glasses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8ED92-E1FE-405E-B88C-0E8C25A2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765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FD67C-4085-46D6-9DCF-3B8E6CF0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676525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Copy 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706710-C661-4B30-91A4-49844D6B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38425"/>
            <a:ext cx="666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C999B-5E1A-4029-8D8C-C4B5AC4C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051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4C0CF"/>
                </a:solidFill>
                <a:latin typeface="Aptos"/>
                <a:ea typeface="Aptos"/>
                <a:cs typeface="Aptos"/>
              </a:rPr>
              <a:t>Place test1.py in ~/obstacle-glasses/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64A73C-5EA0-47C6-9BBE-0F67B158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433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6B6A5-5967-4D22-85C9-56A407DD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43325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Install system 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70C9D-3DB9-4853-901C-69F03CC6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05225"/>
            <a:ext cx="666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4366A4-06A8-45F8-9379-EBD4872A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719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9D6C5"/>
                </a:solidFill>
                <a:latin typeface="Aptos"/>
                <a:ea typeface="Aptos"/>
                <a:cs typeface="Aptos"/>
              </a:rPr>
              <a:t>sudo apt update</a:t>
            </a:r>
          </a:p>
          <a:p xmlns:a="http://schemas.openxmlformats.org/drawingml/2006/main">
            <a:pPr algn="l">
              <a:defRPr sz="1125" b="0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9D6C5"/>
                </a:solidFill>
                <a:latin typeface="Aptos"/>
                <a:ea typeface="Aptos"/>
                <a:cs typeface="Aptos"/>
              </a:rPr>
              <a:t>sudo apt install python3-venv python3-full python3-rpi.gpio fswebcam mpg123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20C7CA-EF59-4251-88B6-420F2DA4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C34CAD-6334-4E4E-BCA7-4D98E34C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10125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Create a venv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F87E01-4040-46AE-B2EF-239B6DE4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72025"/>
            <a:ext cx="666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0B13E3-F498-4956-B589-09E33A27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387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4C0CF"/>
                </a:solidFill>
                <a:latin typeface="Aptos"/>
                <a:ea typeface="Aptos"/>
                <a:cs typeface="Aptos"/>
              </a:rPr>
              <a:t>cd ~/obstacle-glasses</a:t>
            </a:r>
          </a:p>
          <a:p xmlns:a="http://schemas.openxmlformats.org/drawingml/2006/main">
            <a:pPr algn="l">
              <a:defRPr sz="11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4C0CF"/>
                </a:solidFill>
                <a:latin typeface="Aptos"/>
                <a:ea typeface="Aptos"/>
                <a:cs typeface="Aptos"/>
              </a:rPr>
              <a:t>python3 -m venv --system-site-packages .venv</a:t>
            </a:r>
          </a:p>
          <a:p xmlns:a="http://schemas.openxmlformats.org/drawingml/2006/main">
            <a:pPr algn="l">
              <a:defRPr sz="11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4C0CF"/>
                </a:solidFill>
                <a:latin typeface="Aptos"/>
                <a:ea typeface="Aptos"/>
                <a:cs typeface="Aptos"/>
              </a:rPr>
              <a:t>.venv/bin/pip install openai gTTS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65B213-BAFE-49D7-8DA9-ACA1791F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CA66"/>
                </a:solidFill>
                <a:latin typeface="Aptos"/>
                <a:ea typeface="Aptos"/>
                <a:cs typeface="Aptos"/>
              </a:rPr>
              <a:t>Raspberry Pi OS Bookworm and later require pip packages to be installed in a virtual environment.</a:t>
            </a:r>
          </a:p>
        </p:txBody>
      </p:sp>
    </p:spTree>
    <p:extLst>
      <p:ext uri="{BB962C8B-B14F-4D97-AF65-F5344CB8AC3E}">
        <p14:creationId xmlns:p14="http://schemas.microsoft.com/office/powerpoint/2010/main" val="3450888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3F22A-9FC4-4C83-BDBC-15C87FFC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SMART OBSTACLE GLASSES  / 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5FA76-215F-43A5-8DFB-A95BD3CA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API key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BBBD8-2464-4087-87D9-7C18B9B9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C5"/>
          </a:solidFill>
          <a:ln xmlns:a="http://schemas.openxmlformats.org/drawingml/2006/main" w="0">
            <a:solidFill>
              <a:srgbClr val="39D6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75C86-4B79-414A-A63E-E97E3691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C0CF"/>
                </a:solidFill>
                <a:latin typeface="Aptos"/>
                <a:ea typeface="Aptos"/>
                <a:cs typeface="Aptos"/>
              </a:rPr>
              <a:t>RASPBERRY PI BUILD GUIDE  • 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A3724-EFE5-4CCA-A35F-E386D55A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4C0CF"/>
                </a:solidFill>
                <a:latin typeface="Aptos"/>
                <a:ea typeface="Aptos"/>
                <a:cs typeface="Aptos"/>
              </a:rPr>
              <a:t>The script reads the key from OPENAI_API_KEY.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12121-D96F-4FE1-B661-9ED65D90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477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6B1FE-0E70-4949-8CEE-1DEEC7BA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622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Create a protected environment 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F69DC-4B60-47F6-AA05-DFA00AC4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80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sudo nano /etc/obstacle-glasses.env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928FF-5639-4032-930A-35EED818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3855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A"/>
                </a:solidFill>
                <a:latin typeface="Aptos"/>
                <a:ea typeface="Aptos"/>
                <a:cs typeface="Aptos"/>
              </a:rPr>
              <a:t>OPENAI_API_KEY=your_key_here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F7E06-D16A-4979-B142-B023F49B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291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sudo chmod 600 /etc/obstacle-glasses.env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9A507-C780-434C-ABF4-70D60DFE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CA66"/>
                </a:solidFill>
                <a:latin typeface="Aptos"/>
                <a:ea typeface="Aptos"/>
                <a:cs typeface="Aptos"/>
              </a:rPr>
              <a:t>Keep the key private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CD7FF-29B7-43E3-A722-CEF4AE54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7655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7FA"/>
                </a:solidFill>
                <a:latin typeface="Aptos"/>
                <a:ea typeface="Aptos"/>
                <a:cs typeface="Aptos"/>
              </a:rPr>
              <a:t>Don’t put it in the script, a public repository, screenshots, or shared slides.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CD7EC6-894B-4A89-898A-93073868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862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4C0CF"/>
                </a:solidFill>
                <a:latin typeface="Aptos"/>
                <a:ea typeface="Aptos"/>
                <a:cs typeface="Aptos"/>
              </a:rPr>
              <a:t>The system service reads this file on startup.</a:t>
            </a:r>
          </a:p>
        </p:txBody>
      </p:sp>
    </p:spTree>
    <p:extLst>
      <p:ext uri="{BB962C8B-B14F-4D97-AF65-F5344CB8AC3E}">
        <p14:creationId xmlns:p14="http://schemas.microsoft.com/office/powerpoint/2010/main" val="20912284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1A19C5-5161-4773-AE16-1E27F638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SMART OBSTACLE GLASSES  / 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24870-013A-417F-9220-A71C0CD1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Configure automatic startup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C503E-7917-4F44-BA83-E1BC361D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C5"/>
          </a:solidFill>
          <a:ln xmlns:a="http://schemas.openxmlformats.org/drawingml/2006/main" w="0">
            <a:solidFill>
              <a:srgbClr val="39D6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318E3-B1C9-43E6-877B-8B9D71CA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C0CF"/>
                </a:solidFill>
                <a:latin typeface="Aptos"/>
                <a:ea typeface="Aptos"/>
                <a:cs typeface="Aptos"/>
              </a:rPr>
              <a:t>RASPBERRY PI BUILD GUIDE  •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C8184-479D-4806-840F-D1F7187A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4C0CF"/>
                </a:solidFill>
                <a:latin typeface="Aptos"/>
                <a:ea typeface="Aptos"/>
                <a:cs typeface="Aptos"/>
              </a:rPr>
              <a:t>The service example assumes username pi and this project folder: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851B0-C90C-4BC9-92EB-D4E76028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10668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0837D-3204-428A-B1BE-AEE23548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/home/pi/obstacle-glasses/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86011-E09C-40E8-9937-C5065322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Copy the service file to: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F5990-5F9A-442B-A534-A3C7E8C4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10668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26D14-8EAA-4AA5-820A-D11C5753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/etc/systemd/system/obstacle-glasses.service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74BE9-BFA6-45FB-AA6A-0910B747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Use the virtual environment interpreter in ExecStart: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A79BA-716E-43A2-B9DF-55591E43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815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/home/pi/obstacle-glasses/.venv/bin/python /home/pi/obstacle-glasses/test1.py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91B68-64C8-478B-8C7A-2902DBF9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4C0CF"/>
                </a:solidFill>
                <a:latin typeface="Aptos"/>
                <a:ea typeface="Aptos"/>
                <a:cs typeface="Aptos"/>
              </a:rPr>
              <a:t>Change User= and paths if your Pi account or folder differs.</a:t>
            </a:r>
          </a:p>
        </p:txBody>
      </p:sp>
    </p:spTree>
    <p:extLst>
      <p:ext uri="{BB962C8B-B14F-4D97-AF65-F5344CB8AC3E}">
        <p14:creationId xmlns:p14="http://schemas.microsoft.com/office/powerpoint/2010/main" val="603796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8C285C-861C-409B-AF6D-BFB5EA98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SMART OBSTACLE GLASSES  / 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1BE67-D2D7-4F7C-AF3B-466A4FE1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Enable and check the service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AA356-5C7C-4520-A968-4C4CA611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C5"/>
          </a:solidFill>
          <a:ln xmlns:a="http://schemas.openxmlformats.org/drawingml/2006/main" w="0">
            <a:solidFill>
              <a:srgbClr val="39D6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D7901-A21F-48FA-80C2-E23914EB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C0CF"/>
                </a:solidFill>
                <a:latin typeface="Aptos"/>
                <a:ea typeface="Aptos"/>
                <a:cs typeface="Aptos"/>
              </a:rPr>
              <a:t>RASPBERRY PI BUILD GUIDE  •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F9197-8274-40AC-9EB1-A9CB73A4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4C0CF"/>
                </a:solidFill>
                <a:latin typeface="Aptos"/>
                <a:ea typeface="Aptos"/>
                <a:cs typeface="Aptos"/>
              </a:rPr>
              <a:t>After installing the service file and environment file, run: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03609-E24B-4707-8A13-50B7A868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4FA3E-59F0-4C60-9C8F-DD4D6548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990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7E93A-F1E4-41EF-9C58-3816D376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812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sudo systemctl daemon-reload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A3773-4FFF-4FEB-B6EB-C7546E25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908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199D5-0D75-4AC0-B26D-FD3D3DBA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990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63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7E530-292D-45F8-82A6-06B6FC43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0037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E0AA"/>
                </a:solidFill>
                <a:latin typeface="Aptos"/>
                <a:ea typeface="Aptos"/>
                <a:cs typeface="Aptos"/>
              </a:rPr>
              <a:t>sudo systemctl enable --now obstacle-glasses.service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42C81-90D6-48BC-B757-B0DB46BB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000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A5923-C337-4AA8-9B31-A9786735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3800"/>
            <a:ext cx="990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6882BC-9C21-4295-8D96-0798077A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195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systemctl status obstacle-glasses.service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EBAAD2-4E29-4D8C-9842-BC80D944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291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7A62C4-C2F3-44E3-8964-DA2E9BCF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52950"/>
            <a:ext cx="990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141E5-86A0-4B6C-BB8E-15617436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3867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journalctl -u obstacle-glasses.service -f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93B669-3F2B-4694-9477-A0775DAD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47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The program starts on each boot and systemd restarts it if it exits with an error.</a:t>
            </a:r>
          </a:p>
        </p:txBody>
      </p:sp>
    </p:spTree>
    <p:extLst>
      <p:ext uri="{BB962C8B-B14F-4D97-AF65-F5344CB8AC3E}">
        <p14:creationId xmlns:p14="http://schemas.microsoft.com/office/powerpoint/2010/main" val="3122662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4C170-BC4F-4845-A3DC-BA4D1111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SMART OBSTACLE GLASSES  / 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08F6D-B966-4CC9-A358-D1897BF8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First run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E7964-39CB-4856-A498-B5C33112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C5"/>
          </a:solidFill>
          <a:ln xmlns:a="http://schemas.openxmlformats.org/drawingml/2006/main" w="0">
            <a:solidFill>
              <a:srgbClr val="39D6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03DFA-44DE-4F3D-BFF4-AE4A8AA4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C0CF"/>
                </a:solidFill>
                <a:latin typeface="Aptos"/>
                <a:ea typeface="Aptos"/>
                <a:cs typeface="Aptos"/>
              </a:rPr>
              <a:t>RASPBERRY PI BUILD GUIDE  •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F09BA-425A-4B59-A10E-BF71941D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BB5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BB5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2C737-0DDF-4813-9E5A-3DBB026C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621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Boot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73EE9-CEAE-4F6D-BD92-50E5DD0A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4C0CF"/>
                </a:solidFill>
                <a:latin typeface="Aptos"/>
                <a:ea typeface="Aptos"/>
                <a:cs typeface="Aptos"/>
              </a:rPr>
              <a:t>Service starts; distance alert runs in background.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B5FC8-307A-481D-AE77-8B4FCA92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384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39D6C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9D6C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DFD6D-FFE9-4DD1-87A2-47BD11D7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384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Approach obstacle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3D381-3147-412C-86E4-6F8A4356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38425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4C0CF"/>
                </a:solidFill>
                <a:latin typeface="Aptos"/>
                <a:ea typeface="Aptos"/>
                <a:cs typeface="Aptos"/>
              </a:rPr>
              <a:t>Pulse spacing decreases inside the 5 ft alert zone.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8D682-1463-4B68-8D17-5E69BFE0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147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CA6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FA8A8-43D7-4A71-8E62-A79247FB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147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Press then release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17A81-BB09-49F7-9883-0ED9143E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14725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4C0CF"/>
                </a:solidFill>
                <a:latin typeface="Aptos"/>
                <a:ea typeface="Aptos"/>
                <a:cs typeface="Aptos"/>
              </a:rPr>
              <a:t>Camera captures; AI describes; speaker plays speech.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87317-BAC2-4AA2-9169-31D65454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8AE0A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AE0A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743E0-2EE6-4FC2-A79B-3463C5A0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910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Troubleshoot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6FC74F-F190-4A8C-8EE3-46F7974F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91025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4C0C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4C0CF"/>
                </a:solidFill>
                <a:latin typeface="Aptos"/>
                <a:ea typeface="Aptos"/>
                <a:cs typeface="Aptos"/>
              </a:rPr>
              <a:t>Read service logs; check camera, Wi-Fi, audio, API key, and wiring.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85B9B7-9A1A-437D-BC10-C6B14AAE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CA6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CA66"/>
                </a:solidFill>
                <a:latin typeface="Aptos"/>
                <a:ea typeface="Aptos"/>
                <a:cs typeface="Aptos"/>
              </a:rPr>
              <a:t>Use as a prototype; test in a safe familiar place and keep other obstacle-awareness methods available.</a:t>
            </a:r>
          </a:p>
        </p:txBody>
      </p:sp>
    </p:spTree>
    <p:extLst>
      <p:ext uri="{BB962C8B-B14F-4D97-AF65-F5344CB8AC3E}">
        <p14:creationId xmlns:p14="http://schemas.microsoft.com/office/powerpoint/2010/main" val="14895868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2026-10-21T20:33:02.9270000Z</dcterms:created>
  <dcterms:modified xsi:type="dcterms:W3CDTF">2026-10-21T20:33:02.9270000Z</dcterms:modified>
</coreProperties>
</file>